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4/30/2025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microsoft.com/office/2007/relationships/hdphoto" Target="../media/hdphoto1.wdp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27B746-6549-6548-A70B-62674CC02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3480" y="5016649"/>
            <a:ext cx="7891272" cy="1069848"/>
          </a:xfrm>
        </p:spPr>
        <p:txBody>
          <a:bodyPr>
            <a:normAutofit fontScale="25000" lnSpcReduction="20000"/>
          </a:bodyPr>
          <a:lstStyle/>
          <a:p>
            <a:r>
              <a:rPr lang="ml-IN" dirty="0"/>
              <a:t>Presented by</a:t>
            </a:r>
          </a:p>
          <a:p>
            <a:r>
              <a:rPr lang="ml-IN" dirty="0"/>
              <a:t>: A.Spoorthy(24D41A6610)</a:t>
            </a:r>
          </a:p>
          <a:p>
            <a:r>
              <a:rPr lang="ml-IN" dirty="0"/>
              <a:t>         A.Sathwika(24D41A6608)</a:t>
            </a:r>
          </a:p>
          <a:p>
            <a:r>
              <a:rPr lang="ml-IN" dirty="0"/>
              <a:t>   A spoorthi(24D41A6614)</a:t>
            </a:r>
          </a:p>
          <a:p>
            <a:r>
              <a:rPr lang="ml-IN"/>
              <a:t>  C.Harini(24D41A6648)</a:t>
            </a:r>
          </a:p>
          <a:p>
            <a:r>
              <a:rPr lang="ml-IN"/>
              <a:t>      </a:t>
            </a:r>
            <a:r>
              <a:rPr lang="ml-IN" dirty="0"/>
              <a:t>AIML-A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80788A-B422-2F27-5C36-2E8B1C05AE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ml-IN" dirty="0"/>
              <a:t>Code mania_2025</a:t>
            </a:r>
            <a:br>
              <a:rPr lang="ml-IN" dirty="0"/>
            </a:br>
            <a:r>
              <a:rPr lang="ml-IN" dirty="0"/>
              <a:t>Brain 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1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B57F-4185-BD43-D35B-2C31351DD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/>
              <a:t>Credit card fraud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E68E5-8763-70AC-EF93-5BADE265E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389" y="2093976"/>
            <a:ext cx="10058400" cy="4050792"/>
          </a:xfrm>
        </p:spPr>
        <p:txBody>
          <a:bodyPr>
            <a:normAutofit fontScale="70000" lnSpcReduction="20000"/>
          </a:bodyPr>
          <a:lstStyle/>
          <a:p>
            <a:endParaRPr lang="ml-IN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What is Credit Card Fraud?</a:t>
            </a:r>
            <a:endParaRPr lang="en-US" dirty="0"/>
          </a:p>
          <a:p>
            <a:r>
              <a:rPr lang="en-US" dirty="0"/>
              <a:t>The unauthorized use of credit card information to make purchases or withdraw funds.</a:t>
            </a:r>
          </a:p>
          <a:p>
            <a:r>
              <a:rPr lang="en-US" dirty="0"/>
              <a:t>Often carried out through theft, hacking, phishing, or skimming.</a:t>
            </a:r>
          </a:p>
          <a:p>
            <a:r>
              <a:rPr lang="en-US" b="1" dirty="0"/>
              <a:t>Why is Detection Important?</a:t>
            </a:r>
            <a:endParaRPr lang="en-US" dirty="0"/>
          </a:p>
          <a:p>
            <a:r>
              <a:rPr lang="en-US" dirty="0"/>
              <a:t>Credit card fraud causes billions in global losses each year.</a:t>
            </a:r>
          </a:p>
          <a:p>
            <a:r>
              <a:rPr lang="en-US" dirty="0"/>
              <a:t>Protects consumers and financial institutions from financial harm.</a:t>
            </a:r>
          </a:p>
          <a:p>
            <a:r>
              <a:rPr lang="en-US" dirty="0"/>
              <a:t>Helps maintain trust in online transactions and banking systems.</a:t>
            </a:r>
          </a:p>
          <a:p>
            <a:r>
              <a:rPr lang="en-US" b="1" dirty="0"/>
              <a:t>Real-World Impact:</a:t>
            </a:r>
            <a:endParaRPr lang="en-US" dirty="0"/>
          </a:p>
          <a:p>
            <a:r>
              <a:rPr lang="en-US" dirty="0"/>
              <a:t>According to [latest data], global credit card fraud losses exceeded [$X billion] in [year].</a:t>
            </a:r>
          </a:p>
          <a:p>
            <a:r>
              <a:rPr lang="en-US" dirty="0"/>
              <a:t>Increasing trend due to the rise in digital and online payments.</a:t>
            </a:r>
          </a:p>
          <a:p>
            <a:r>
              <a:rPr lang="en-US" dirty="0"/>
              <a:t>Would you like me to turn this into a slide with visuals and design, or continue with the next slide?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E070E-1558-9580-332B-0FE265194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888" y="2386372"/>
            <a:ext cx="3574723" cy="208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2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6E4C4-CA4B-DD89-C5B0-6E360118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dirty="0"/>
              <a:t>Types of credit card fraud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687AF-44FE-2F5C-36F4-AE9BAE1F8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93976"/>
            <a:ext cx="10058400" cy="40507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Rule-Based Detection</a:t>
            </a:r>
            <a:endParaRPr lang="en-US" dirty="0"/>
          </a:p>
          <a:p>
            <a:pPr lvl="1"/>
            <a:r>
              <a:rPr lang="en-US" dirty="0"/>
              <a:t>Uses manually defined rules (e.g., flagging large transactions in unusual locations).</a:t>
            </a:r>
          </a:p>
          <a:p>
            <a:pPr lvl="1"/>
            <a:r>
              <a:rPr lang="en-US" dirty="0"/>
              <a:t>Easy to implement, but limited in adaptability.</a:t>
            </a:r>
          </a:p>
          <a:p>
            <a:r>
              <a:rPr lang="en-US" b="1" dirty="0"/>
              <a:t>Anomaly Detection</a:t>
            </a:r>
            <a:endParaRPr lang="en-US" dirty="0"/>
          </a:p>
          <a:p>
            <a:pPr lvl="1"/>
            <a:r>
              <a:rPr lang="en-US" dirty="0"/>
              <a:t>Detects transactions that deviate significantly from a user's normal behavior.</a:t>
            </a:r>
          </a:p>
          <a:p>
            <a:pPr lvl="1"/>
            <a:r>
              <a:rPr lang="en-US" dirty="0"/>
              <a:t>Unsupervised learning techniques often used.</a:t>
            </a:r>
          </a:p>
          <a:p>
            <a:r>
              <a:rPr lang="en-US" b="1" dirty="0"/>
              <a:t>Supervised Machine Learning</a:t>
            </a:r>
            <a:endParaRPr lang="en-US" dirty="0"/>
          </a:p>
          <a:p>
            <a:pPr lvl="1"/>
            <a:r>
              <a:rPr lang="en-US" dirty="0"/>
              <a:t>Trained on labeled datasets (fraud vs. legitimate).</a:t>
            </a:r>
          </a:p>
          <a:p>
            <a:pPr lvl="1"/>
            <a:r>
              <a:rPr lang="en-US" dirty="0"/>
              <a:t>Common algorithms: Logistic Regression, Random Forest, SVM, </a:t>
            </a:r>
            <a:r>
              <a:rPr lang="en-US" dirty="0" err="1"/>
              <a:t>XGBoost</a:t>
            </a:r>
            <a:r>
              <a:rPr lang="en-US" dirty="0"/>
              <a:t>.</a:t>
            </a:r>
          </a:p>
          <a:p>
            <a:r>
              <a:rPr lang="en-US" b="1" dirty="0"/>
              <a:t>Deep Learning Models</a:t>
            </a:r>
            <a:endParaRPr lang="en-US" dirty="0"/>
          </a:p>
          <a:p>
            <a:pPr lvl="1"/>
            <a:r>
              <a:rPr lang="en-US" dirty="0"/>
              <a:t>Uses neural networks (e.g., CNNs, LSTMs) to detect complex patterns in transactional data.</a:t>
            </a:r>
          </a:p>
          <a:p>
            <a:pPr lvl="1"/>
            <a:r>
              <a:rPr lang="en-US" dirty="0"/>
              <a:t>More effective on large datasets with hidden fraud patterns.</a:t>
            </a:r>
          </a:p>
          <a:p>
            <a:r>
              <a:rPr lang="en-US" b="1" dirty="0"/>
              <a:t>Hybrid Approaches</a:t>
            </a:r>
            <a:endParaRPr lang="en-US" dirty="0"/>
          </a:p>
          <a:p>
            <a:pPr lvl="1"/>
            <a:r>
              <a:rPr lang="en-US" dirty="0"/>
              <a:t>Combines multiple methods (e.g., rule-based + machine learning) to improve accuracy and reduce false positives.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C5F96-63E4-BAA1-643B-EDD5551AD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718" y="2512497"/>
            <a:ext cx="2549547" cy="183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7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2F7B-5DD9-D90F-8997-731DFB75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dirty="0"/>
              <a:t>Machine learning approch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3058-E7CA-2377-F6F7-B7FE179F2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Here's a concise slide on the Machine Learning Approach for Credit Card Fraud Detection:</a:t>
            </a:r>
          </a:p>
          <a:p>
            <a:r>
              <a:rPr lang="en-US" b="1" dirty="0"/>
              <a:t>Slide Title: Machine Learning Approach</a:t>
            </a:r>
          </a:p>
          <a:p>
            <a:r>
              <a:rPr lang="en-US" b="1" dirty="0"/>
              <a:t>Data Collection</a:t>
            </a:r>
            <a:endParaRPr lang="en-US" dirty="0"/>
          </a:p>
          <a:p>
            <a:pPr lvl="1"/>
            <a:r>
              <a:rPr lang="en-US" dirty="0"/>
              <a:t>Gather transactional data (features like amount, time, location).</a:t>
            </a:r>
          </a:p>
          <a:p>
            <a:r>
              <a:rPr lang="en-US" b="1" dirty="0"/>
              <a:t>Data Preprocessing</a:t>
            </a:r>
            <a:endParaRPr lang="en-US" dirty="0"/>
          </a:p>
          <a:p>
            <a:pPr lvl="1"/>
            <a:r>
              <a:rPr lang="en-US" dirty="0"/>
              <a:t>Handle missing values</a:t>
            </a:r>
          </a:p>
          <a:p>
            <a:pPr lvl="1"/>
            <a:r>
              <a:rPr lang="en-US" dirty="0"/>
              <a:t>Normalize data</a:t>
            </a:r>
          </a:p>
          <a:p>
            <a:pPr lvl="1"/>
            <a:r>
              <a:rPr lang="en-US" dirty="0"/>
              <a:t>Deal with imbalanced classes (e.g., using SMOTE or </a:t>
            </a:r>
            <a:r>
              <a:rPr lang="en-US" dirty="0" err="1"/>
              <a:t>undersampling</a:t>
            </a:r>
            <a:r>
              <a:rPr lang="en-US" dirty="0"/>
              <a:t>)</a:t>
            </a:r>
          </a:p>
          <a:p>
            <a:r>
              <a:rPr lang="en-US" b="1" dirty="0"/>
              <a:t>Feature Selection</a:t>
            </a:r>
            <a:endParaRPr lang="en-US" dirty="0"/>
          </a:p>
          <a:p>
            <a:pPr lvl="1"/>
            <a:r>
              <a:rPr lang="en-US" dirty="0"/>
              <a:t>Identify key indicators of fraud (e.g., unusual spending patterns)</a:t>
            </a:r>
          </a:p>
          <a:p>
            <a:r>
              <a:rPr lang="en-US" b="1" dirty="0"/>
              <a:t>Model Training</a:t>
            </a:r>
            <a:endParaRPr lang="en-US" dirty="0"/>
          </a:p>
          <a:p>
            <a:pPr lvl="1"/>
            <a:r>
              <a:rPr lang="en-US" dirty="0"/>
              <a:t>Apply ML algorithms: </a:t>
            </a:r>
          </a:p>
          <a:p>
            <a:pPr lvl="2"/>
            <a:r>
              <a:rPr lang="en-US" dirty="0"/>
              <a:t>Logistic Regression</a:t>
            </a:r>
          </a:p>
          <a:p>
            <a:pPr lvl="2"/>
            <a:r>
              <a:rPr lang="en-US" dirty="0"/>
              <a:t>Decision Trees</a:t>
            </a:r>
          </a:p>
          <a:p>
            <a:pPr lvl="2"/>
            <a:r>
              <a:rPr lang="en-US" dirty="0"/>
              <a:t>Random Forest</a:t>
            </a:r>
          </a:p>
          <a:p>
            <a:pPr lvl="2"/>
            <a:r>
              <a:rPr lang="en-US" dirty="0" err="1"/>
              <a:t>XGBoost</a:t>
            </a:r>
            <a:endParaRPr lang="en-US" dirty="0"/>
          </a:p>
          <a:p>
            <a:r>
              <a:rPr lang="en-US" b="1" dirty="0"/>
              <a:t>Model Evaluation</a:t>
            </a:r>
            <a:endParaRPr lang="en-US" dirty="0"/>
          </a:p>
          <a:p>
            <a:pPr lvl="1"/>
            <a:r>
              <a:rPr lang="en-US" dirty="0"/>
              <a:t>Use metrics like: </a:t>
            </a:r>
          </a:p>
          <a:p>
            <a:pPr lvl="2"/>
            <a:r>
              <a:rPr lang="en-US" dirty="0"/>
              <a:t>Precision, Recall, F1-Score</a:t>
            </a:r>
          </a:p>
          <a:p>
            <a:pPr lvl="2"/>
            <a:r>
              <a:rPr lang="en-US" dirty="0"/>
              <a:t>Confusion Matrix</a:t>
            </a:r>
          </a:p>
          <a:p>
            <a:pPr lvl="2"/>
            <a:r>
              <a:rPr lang="en-US" dirty="0"/>
              <a:t>ROC-AUC Curve</a:t>
            </a:r>
          </a:p>
          <a:p>
            <a:r>
              <a:rPr lang="en-US" b="1" dirty="0"/>
              <a:t>Deployment</a:t>
            </a:r>
            <a:endParaRPr lang="en-US" dirty="0"/>
          </a:p>
          <a:p>
            <a:pPr lvl="1"/>
            <a:r>
              <a:rPr lang="en-US" dirty="0"/>
              <a:t>Integrate the model into real-time systems for live fraud detection</a:t>
            </a:r>
          </a:p>
          <a:p>
            <a:r>
              <a:rPr lang="en-US" dirty="0"/>
              <a:t>Would you like help creating a diagram for this workflow or move to the next topic?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74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3B28A-3A0D-7966-4DEA-2FC9F27D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dirty="0"/>
              <a:t>Implementations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4E242-6E37-948E-6396-AFB6CA483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93976"/>
            <a:ext cx="10058400" cy="40507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ml-IN" b="1" dirty="0"/>
          </a:p>
          <a:p>
            <a:pPr marL="0" indent="0">
              <a:buNone/>
            </a:pPr>
            <a:r>
              <a:rPr lang="ml-IN" b="1" dirty="0"/>
              <a:t>Tools </a:t>
            </a:r>
            <a:r>
              <a:rPr lang="en-US" b="1" dirty="0"/>
              <a:t> Used</a:t>
            </a:r>
            <a:endParaRPr lang="en-US" dirty="0"/>
          </a:p>
          <a:p>
            <a:pPr lvl="1"/>
            <a:r>
              <a:rPr lang="en-US" dirty="0"/>
              <a:t>Python, </a:t>
            </a:r>
            <a:r>
              <a:rPr lang="en-US" dirty="0" err="1"/>
              <a:t>Scikit</a:t>
            </a:r>
            <a:r>
              <a:rPr lang="en-US" dirty="0"/>
              <a:t>-learn, Pandas,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Matplotlib</a:t>
            </a:r>
            <a:endParaRPr lang="en-US" dirty="0"/>
          </a:p>
          <a:p>
            <a:r>
              <a:rPr lang="en-US" b="1" dirty="0"/>
              <a:t>Dataset</a:t>
            </a:r>
            <a:endParaRPr lang="en-US" dirty="0"/>
          </a:p>
          <a:p>
            <a:pPr lvl="1"/>
            <a:r>
              <a:rPr lang="en-US" dirty="0" err="1"/>
              <a:t>Kaggle</a:t>
            </a:r>
            <a:r>
              <a:rPr lang="en-US" dirty="0"/>
              <a:t> Credit Card Fraud Detection Dataset</a:t>
            </a:r>
          </a:p>
          <a:p>
            <a:pPr lvl="1"/>
            <a:r>
              <a:rPr lang="en-US" dirty="0"/>
              <a:t>Contains 284,807 transactions with 492 fraud cases</a:t>
            </a:r>
          </a:p>
          <a:p>
            <a:r>
              <a:rPr lang="en-US" b="1" dirty="0"/>
              <a:t>Steps</a:t>
            </a:r>
            <a:endParaRPr lang="en-US" dirty="0"/>
          </a:p>
          <a:p>
            <a:pPr lvl="1"/>
            <a:r>
              <a:rPr lang="en-US" dirty="0"/>
              <a:t>Load and clean data</a:t>
            </a:r>
          </a:p>
          <a:p>
            <a:pPr lvl="1"/>
            <a:r>
              <a:rPr lang="en-US" dirty="0"/>
              <a:t>Handle class imbalance (e.g., SMOTE)</a:t>
            </a:r>
          </a:p>
          <a:p>
            <a:pPr lvl="1"/>
            <a:r>
              <a:rPr lang="en-US" dirty="0"/>
              <a:t>Train ML model (e.g., Random Forest)</a:t>
            </a:r>
          </a:p>
          <a:p>
            <a:pPr lvl="1"/>
            <a:r>
              <a:rPr lang="en-US" dirty="0"/>
              <a:t>Evaluate using ROC curve &amp; confusion matrix</a:t>
            </a:r>
          </a:p>
          <a:p>
            <a:r>
              <a:rPr lang="en-US" b="1" dirty="0"/>
              <a:t>Result</a:t>
            </a:r>
            <a:endParaRPr lang="en-US" dirty="0"/>
          </a:p>
          <a:p>
            <a:pPr lvl="1"/>
            <a:r>
              <a:rPr lang="en-US" dirty="0"/>
              <a:t>Achieved high recall and precision</a:t>
            </a:r>
          </a:p>
          <a:p>
            <a:pPr lvl="1"/>
            <a:r>
              <a:rPr lang="en-US" dirty="0"/>
              <a:t>Model detects fraud with good accuracy</a:t>
            </a:r>
          </a:p>
          <a:p>
            <a:r>
              <a:rPr lang="en-US" dirty="0"/>
              <a:t>Would you like to add code snippets or visuals to this slide?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F0182-DC45-A6F1-B0EF-582C32D71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67" y="1289304"/>
            <a:ext cx="4053785" cy="402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8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ED6F4-69B1-6A89-62B4-73E14A00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dirty="0"/>
              <a:t>Challenge s in credit Card fraud detection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E961CC-026A-A989-4EAC-1E8B2FB21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8019" y="2093913"/>
            <a:ext cx="7202311" cy="4051300"/>
          </a:xfrm>
        </p:spPr>
      </p:pic>
    </p:spTree>
    <p:extLst>
      <p:ext uri="{BB962C8B-B14F-4D97-AF65-F5344CB8AC3E}">
        <p14:creationId xmlns:p14="http://schemas.microsoft.com/office/powerpoint/2010/main" val="1571114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8C30-23D0-F231-4FCE-D7990964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56B10-E080-67C0-922D-A9CD65AE5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Slide Title: Future Scope</a:t>
            </a:r>
          </a:p>
          <a:p>
            <a:r>
              <a:rPr lang="en-US" b="1" dirty="0"/>
              <a:t>Real-Time Detection</a:t>
            </a:r>
            <a:endParaRPr lang="en-US" dirty="0"/>
          </a:p>
          <a:p>
            <a:pPr lvl="1"/>
            <a:r>
              <a:rPr lang="en-US" dirty="0"/>
              <a:t>Faster models to stop fraud instantly.</a:t>
            </a:r>
          </a:p>
          <a:p>
            <a:r>
              <a:rPr lang="en-US" b="1" dirty="0"/>
              <a:t>AI &amp; Deep Learning</a:t>
            </a:r>
            <a:endParaRPr lang="en-US" dirty="0"/>
          </a:p>
          <a:p>
            <a:pPr lvl="1"/>
            <a:r>
              <a:rPr lang="en-US" dirty="0"/>
              <a:t>Smarter models for better pattern recognition.</a:t>
            </a:r>
          </a:p>
          <a:p>
            <a:r>
              <a:rPr lang="en-US" b="1" dirty="0" err="1"/>
              <a:t>Blockchain</a:t>
            </a:r>
            <a:r>
              <a:rPr lang="en-US" b="1" dirty="0"/>
              <a:t> Technology</a:t>
            </a:r>
            <a:endParaRPr lang="en-US" dirty="0"/>
          </a:p>
          <a:p>
            <a:pPr lvl="1"/>
            <a:r>
              <a:rPr lang="en-US" dirty="0"/>
              <a:t>Secure and transparent transaction tracking.</a:t>
            </a:r>
          </a:p>
          <a:p>
            <a:r>
              <a:rPr lang="en-US" b="1" dirty="0"/>
              <a:t>Behavioral Biometrics</a:t>
            </a:r>
            <a:endParaRPr lang="en-US" dirty="0"/>
          </a:p>
          <a:p>
            <a:pPr lvl="1"/>
            <a:r>
              <a:rPr lang="en-US" dirty="0"/>
              <a:t>Using typing speed, mouse movements for fraud checks.</a:t>
            </a:r>
          </a:p>
          <a:p>
            <a:r>
              <a:rPr lang="en-US" b="1" dirty="0"/>
              <a:t>Continuous Learning</a:t>
            </a:r>
            <a:endParaRPr lang="en-US" dirty="0"/>
          </a:p>
          <a:p>
            <a:pPr lvl="1"/>
            <a:r>
              <a:rPr lang="en-US" dirty="0"/>
              <a:t>Models that update as fraud techniques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88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6428F-FF59-56B3-00DC-54B7A206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88" y="1039906"/>
            <a:ext cx="3281083" cy="4105834"/>
          </a:xfrm>
        </p:spPr>
        <p:txBody>
          <a:bodyPr/>
          <a:lstStyle/>
          <a:p>
            <a:r>
              <a:rPr lang="ml-IN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9467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Wood Type</vt:lpstr>
      <vt:lpstr>Code mania_2025 Brain in</vt:lpstr>
      <vt:lpstr>Credit card fraud detection</vt:lpstr>
      <vt:lpstr>Types of credit card fraud</vt:lpstr>
      <vt:lpstr>Machine learning approch</vt:lpstr>
      <vt:lpstr>Implementations</vt:lpstr>
      <vt:lpstr>Challenge s in credit Card fraud detection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creator>spoorthiarukonda868@gmail.com</dc:creator>
  <cp:lastModifiedBy>spoorthiarukonda868@gmail.com</cp:lastModifiedBy>
  <cp:revision>5</cp:revision>
  <dcterms:created xsi:type="dcterms:W3CDTF">2025-04-30T00:26:47Z</dcterms:created>
  <dcterms:modified xsi:type="dcterms:W3CDTF">2025-04-30T12:43:54Z</dcterms:modified>
</cp:coreProperties>
</file>